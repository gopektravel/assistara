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ff58166ecd4f42" /><Relationship Type="http://schemas.openxmlformats.org/officeDocument/2006/relationships/extended-properties" Target="/docProps/app.xml" Id="Rc29921736c3d42b7" /><Relationship Type="http://schemas.openxmlformats.org/officeDocument/2006/relationships/officeDocument" Target="/ppt/presentation.xml" Id="R688112cde22243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fa03a4200d4b38"/>
  </p:sldMasterIdLst>
  <p:notesMasterIdLst>
    <p:notesMasterId xmlns:r="http://schemas.openxmlformats.org/officeDocument/2006/relationships" r:id="R6b2ddbe3a35f41d0"/>
  </p:notesMasterIdLst>
  <p:sldIdLst>
    <p:sldId xmlns:r="http://schemas.openxmlformats.org/officeDocument/2006/relationships" id="256" r:id="Rcbc2ba70df33433c"/>
    <p:sldId xmlns:r="http://schemas.openxmlformats.org/officeDocument/2006/relationships" id="257" r:id="Reed8a56af0b14267"/>
    <p:sldId xmlns:r="http://schemas.openxmlformats.org/officeDocument/2006/relationships" id="258" r:id="Rcc7c105f8bf24ff2"/>
    <p:sldId xmlns:r="http://schemas.openxmlformats.org/officeDocument/2006/relationships" id="259" r:id="Ra6ef459c32db43dc"/>
    <p:sldId xmlns:r="http://schemas.openxmlformats.org/officeDocument/2006/relationships" id="260" r:id="R6a7fadde68524de8"/>
    <p:sldId xmlns:r="http://schemas.openxmlformats.org/officeDocument/2006/relationships" id="261" r:id="R910cdfcbef6a4a52"/>
    <p:sldId xmlns:r="http://schemas.openxmlformats.org/officeDocument/2006/relationships" id="262" r:id="R3568214b14c9427f"/>
    <p:sldId xmlns:r="http://schemas.openxmlformats.org/officeDocument/2006/relationships" id="263" r:id="R18e9d17f6a8f4aea"/>
    <p:sldId xmlns:r="http://schemas.openxmlformats.org/officeDocument/2006/relationships" id="264" r:id="R4c479a6ceffb4428"/>
    <p:sldId xmlns:r="http://schemas.openxmlformats.org/officeDocument/2006/relationships" id="265" r:id="Rda18ab7816374215"/>
    <p:sldId xmlns:r="http://schemas.openxmlformats.org/officeDocument/2006/relationships" id="266" r:id="Rd9eeae547f0e4d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c90daa12c84f05" /><Relationship Type="http://schemas.openxmlformats.org/officeDocument/2006/relationships/slideMaster" Target="/ppt/slideMasters/slideMaster1.xml" Id="R7bfa03a4200d4b38" /><Relationship Type="http://schemas.openxmlformats.org/officeDocument/2006/relationships/notesMaster" Target="/ppt/notesMasters/notesMaster1.xml" Id="R6b2ddbe3a35f41d0" /><Relationship Type="http://schemas.openxmlformats.org/officeDocument/2006/relationships/presProps" Target="/ppt/presProps.xml" Id="Re1de187af4de43b5" /><Relationship Type="http://schemas.openxmlformats.org/officeDocument/2006/relationships/tableStyles" Target="/ppt/tableStyles.xml" Id="R779afe8fee884a64" /><Relationship Type="http://schemas.openxmlformats.org/officeDocument/2006/relationships/slide" Target="/ppt/slides/slide1.xml" Id="Rcbc2ba70df33433c" /><Relationship Type="http://schemas.openxmlformats.org/officeDocument/2006/relationships/slide" Target="/ppt/slides/slide2.xml" Id="Reed8a56af0b14267" /><Relationship Type="http://schemas.openxmlformats.org/officeDocument/2006/relationships/slide" Target="/ppt/slides/slide3.xml" Id="Rcc7c105f8bf24ff2" /><Relationship Type="http://schemas.openxmlformats.org/officeDocument/2006/relationships/slide" Target="/ppt/slides/slide4.xml" Id="Ra6ef459c32db43dc" /><Relationship Type="http://schemas.openxmlformats.org/officeDocument/2006/relationships/slide" Target="/ppt/slides/slide5.xml" Id="R6a7fadde68524de8" /><Relationship Type="http://schemas.openxmlformats.org/officeDocument/2006/relationships/slide" Target="/ppt/slides/slide6.xml" Id="R910cdfcbef6a4a52" /><Relationship Type="http://schemas.openxmlformats.org/officeDocument/2006/relationships/slide" Target="/ppt/slides/slide7.xml" Id="R3568214b14c9427f" /><Relationship Type="http://schemas.openxmlformats.org/officeDocument/2006/relationships/slide" Target="/ppt/slides/slide8.xml" Id="R18e9d17f6a8f4aea" /><Relationship Type="http://schemas.openxmlformats.org/officeDocument/2006/relationships/slide" Target="/ppt/slides/slide9.xml" Id="R4c479a6ceffb4428" /><Relationship Type="http://schemas.openxmlformats.org/officeDocument/2006/relationships/slide" Target="/ppt/slides/slide10.xml" Id="Rda18ab7816374215" /><Relationship Type="http://schemas.openxmlformats.org/officeDocument/2006/relationships/slide" Target="/ppt/slides/slide11.xml" Id="Rd9eeae547f0e4d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6deb1bc47a4e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c4b2c286f44061" /><Relationship Type="http://schemas.openxmlformats.org/officeDocument/2006/relationships/notesMaster" Target="/ppt/notesMasters/notesMaster1.xml" Id="Rb97d09c933c44a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6a362ad3f14163" /><Relationship Type="http://schemas.openxmlformats.org/officeDocument/2006/relationships/notesMaster" Target="/ppt/notesMasters/notesMaster1.xml" Id="R16da7b1b082740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37e5b26aab4eca" /><Relationship Type="http://schemas.openxmlformats.org/officeDocument/2006/relationships/notesMaster" Target="/ppt/notesMasters/notesMaster1.xml" Id="R67e86d34d52f4c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834899365e4ab1" /><Relationship Type="http://schemas.openxmlformats.org/officeDocument/2006/relationships/notesMaster" Target="/ppt/notesMasters/notesMaster1.xml" Id="R04d97dce578f4c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a2cc12ea5d4512" /><Relationship Type="http://schemas.openxmlformats.org/officeDocument/2006/relationships/notesMaster" Target="/ppt/notesMasters/notesMaster1.xml" Id="Rc64f3027e42747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50b00b21f048b8" /><Relationship Type="http://schemas.openxmlformats.org/officeDocument/2006/relationships/notesMaster" Target="/ppt/notesMasters/notesMaster1.xml" Id="R4356bb4547ae47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149e589ba8407c" /><Relationship Type="http://schemas.openxmlformats.org/officeDocument/2006/relationships/notesMaster" Target="/ppt/notesMasters/notesMaster1.xml" Id="R61437b99a8b74e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4283877605484e" /><Relationship Type="http://schemas.openxmlformats.org/officeDocument/2006/relationships/notesMaster" Target="/ppt/notesMasters/notesMaster1.xml" Id="R914a973669b54e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0aa5bc33164424" /><Relationship Type="http://schemas.openxmlformats.org/officeDocument/2006/relationships/notesMaster" Target="/ppt/notesMasters/notesMaster1.xml" Id="R71d57293f84740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06053c48b94235" /><Relationship Type="http://schemas.openxmlformats.org/officeDocument/2006/relationships/notesMaster" Target="/ppt/notesMasters/notesMaster1.xml" Id="R0f3348ad3f6a4e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75295cfcd440b5" /><Relationship Type="http://schemas.openxmlformats.org/officeDocument/2006/relationships/notesMaster" Target="/ppt/notesMasters/notesMaster1.xml" Id="Re2b2d22689a744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897a7cf3e40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282f325937401d" /><Relationship Type="http://schemas.openxmlformats.org/officeDocument/2006/relationships/slideLayout" Target="/ppt/slideLayouts/slideLayout1.xml" Id="R3a8025346f124f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8025346f124f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4c3f06a04482a" /><Relationship Type="http://schemas.openxmlformats.org/officeDocument/2006/relationships/notesSlide" Target="/ppt/notesSlides/notesSlide1.xml" Id="Ra201df08cebb42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9661953f049c2" /><Relationship Type="http://schemas.openxmlformats.org/officeDocument/2006/relationships/notesSlide" Target="/ppt/notesSlides/notesSlide2.xml" Id="Rb54db18ace2543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2a02ffe8e4f8c" /><Relationship Type="http://schemas.openxmlformats.org/officeDocument/2006/relationships/notesSlide" Target="/ppt/notesSlides/notesSlide3.xml" Id="R969b9b64bc1c43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7a765b2574d78" /><Relationship Type="http://schemas.openxmlformats.org/officeDocument/2006/relationships/notesSlide" Target="/ppt/notesSlides/notesSlide4.xml" Id="Rf101a90464a640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616a89443487e" /><Relationship Type="http://schemas.openxmlformats.org/officeDocument/2006/relationships/notesSlide" Target="/ppt/notesSlides/notesSlide5.xml" Id="R79ad393b48204f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c5172f46c4352" /><Relationship Type="http://schemas.openxmlformats.org/officeDocument/2006/relationships/notesSlide" Target="/ppt/notesSlides/notesSlide6.xml" Id="Rc921d2921dac4b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8a5ba605f4cd9" /><Relationship Type="http://schemas.openxmlformats.org/officeDocument/2006/relationships/notesSlide" Target="/ppt/notesSlides/notesSlide7.xml" Id="Reedf5cd2fd1847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3e9b8ee4c4f5e" /><Relationship Type="http://schemas.openxmlformats.org/officeDocument/2006/relationships/notesSlide" Target="/ppt/notesSlides/notesSlide8.xml" Id="Re88b9d6456314b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3469d7933418c" /><Relationship Type="http://schemas.openxmlformats.org/officeDocument/2006/relationships/notesSlide" Target="/ppt/notesSlides/notesSlide9.xml" Id="R56568191e12f41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de1e0cc0049ce" /><Relationship Type="http://schemas.openxmlformats.org/officeDocument/2006/relationships/notesSlide" Target="/ppt/notesSlides/notesSlide10.xml" Id="Radef6721696b44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e49060d684032" /><Relationship Type="http://schemas.openxmlformats.org/officeDocument/2006/relationships/notesSlide" Target="/ppt/notesSlides/notesSlide11.xml" Id="Rd1dc3179b0a84d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7BE97-A97B-4F2F-98C1-34139956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FA021-B7DC-46D3-8287-2A9CEE0A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1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20DD0-E4BA-43D7-B011-31759836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D51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D51F"/>
                </a:solidFill>
                <a:latin typeface="Manrope"/>
                <a:ea typeface="Manrope"/>
                <a:cs typeface="Manrope"/>
              </a:rPr>
              <a:t>ASSISTARA ACADEMY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5620E-466C-4340-A9F5-8C5F2D27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715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8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Build a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8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client inbox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8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CBF6E-AF55-4389-81FB-A5FF82C5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D7D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D9D7D0"/>
                </a:solidFill>
                <a:latin typeface="Manrope"/>
                <a:ea typeface="Manrope"/>
                <a:cs typeface="Manrope"/>
              </a:rPr>
              <a:t>Turn a busy inbox into clear actions, calm communication and reliable follow-through.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80502-ED5D-4102-96D2-6E59FCD9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066800"/>
            <a:ext cx="36195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EAA1C-0CCF-44FA-A6CA-42A54E30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19250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4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INBOX</a:t>
            </a:r>
          </a:p>
          <a:p xmlns:a="http://schemas.openxmlformats.org/drawingml/2006/main">
            <a:pPr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4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→</a:t>
            </a:r>
          </a:p>
          <a:p xmlns:a="http://schemas.openxmlformats.org/drawingml/2006/main">
            <a:pPr>
              <a:defRPr sz="34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4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5E801-72D0-4373-A803-7AC2BFE5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052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Lesson 3.2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9FF4C-3599-43E8-B6EF-3034D3C4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9587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A practical lesson for handling a client’s email with care.</a:t>
            </a:r>
          </a:p>
        </p:txBody>
      </p:sp>
    </p:spTree>
    <p:extLst>
      <p:ext uri="{BB962C8B-B14F-4D97-AF65-F5344CB8AC3E}">
        <p14:creationId xmlns:p14="http://schemas.microsoft.com/office/powerpoint/2010/main" val="18489786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176F33-7F1B-4270-B07B-628768C0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LESSON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24A83-AE9D-4B17-B648-0D962D86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What a strong inbox workflow does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F0F60-26D3-4470-B176-A7954654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650" b="0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By the end of this lesson, you can assess a client inbox, set a simple system, prioritise messages and draft a clear professional reply.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E178D-6F8C-4AAB-B044-8640B3EC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390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C7587-8EF6-4981-932C-40A78BF3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71750"/>
            <a:ext cx="3390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FF5E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68026-66C8-4283-9BE1-72C1D6C3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390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3CFA6-3E86-4552-B0DE-E26C07D8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1A55E-7944-4DC6-8A22-1BAE4C22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See the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03643-3A98-4C06-9088-57870F0D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57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Spot the messages that need attention before they become problems.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B7CF3-AD92-4257-BFB6-A0C38ABC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4B215-8207-42D9-9FDF-E1EB65C1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290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Create 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D3DE5-3D0B-4FA3-9C10-2BF2E568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05250"/>
            <a:ext cx="257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Use a simple structure that matches how your client works.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39FD6-0898-4171-AC83-26258FAA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5D4F9-9FFC-4D4A-8DC4-1A95CEC4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290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Keep trust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D869F-2C17-42BC-A03F-9036ED01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05250"/>
            <a:ext cx="257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Reply with clarity, protect commitments and flag risks early.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FA75C-BB81-449A-949E-B4416DB2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ASSISTARA ACADEMY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3CEF1-AE49-4CAB-B51A-164F409C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CLIENT INBOX WORKFLOW  /  02</a:t>
            </a:r>
          </a:p>
        </p:txBody>
      </p:sp>
    </p:spTree>
    <p:extLst>
      <p:ext uri="{BB962C8B-B14F-4D97-AF65-F5344CB8AC3E}">
        <p14:creationId xmlns:p14="http://schemas.microsoft.com/office/powerpoint/2010/main" val="123070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54A95-988F-4B27-97F1-73AA236F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THE SHIFT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FC72F-37E6-4EA4-9EF4-ED26DAF4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An inbox is a control centre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55713-03A5-45D4-A1B1-54E9004F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E0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4EF6D-1A8A-473A-9371-BD1FFF1B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Before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784CF-8C42-49C9-BA95-7A7CE0E3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Unread messages</a:t>
            </a:r>
          </a:p>
          <a:p xmlns:a="http://schemas.openxmlformats.org/drawingml/2006/main">
            <a:pPr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Mixed priorities</a:t>
            </a:r>
          </a:p>
          <a:p xmlns:a="http://schemas.openxmlformats.org/drawingml/2006/main">
            <a:pPr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Late replies</a:t>
            </a:r>
          </a:p>
          <a:p xmlns:a="http://schemas.openxmlformats.org/drawingml/2006/main">
            <a:pPr>
              <a:defRPr sz="21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No clear owner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C0752-0A5C-4546-9FC5-C2DFABD4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52625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9EE0A-19C3-4481-B7D3-7FC7CA3B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286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D51F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FFD51F"/>
                </a:solidFill>
                <a:latin typeface="Manrope"/>
                <a:ea typeface="Manrope"/>
                <a:cs typeface="Manrope"/>
              </a:rPr>
              <a:t>After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B42E4-2BD0-4EC5-AF36-24798CBE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8765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Clear categories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Next action visible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Client preferences followed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Risks raised early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6ACBC-8F83-4228-976B-FDE70183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The goal is not an empty inbox. The goal is a trusted system.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A0E25-A98D-4DB8-82D1-5E1D5706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ASSISTARA ACADEMY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94812-BA1C-4802-BB3A-A6A93E90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CLIENT INBOX WORKFLOW  /  03</a:t>
            </a:r>
          </a:p>
        </p:txBody>
      </p:sp>
    </p:spTree>
    <p:extLst>
      <p:ext uri="{BB962C8B-B14F-4D97-AF65-F5344CB8AC3E}">
        <p14:creationId xmlns:p14="http://schemas.microsoft.com/office/powerpoint/2010/main" val="12800566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17EAC-335D-4502-9491-C081608A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STEP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AAC4B-972B-49D9-B5D2-48200A3E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Learn the client’s rules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A45A2-7D08-4855-9924-08C7220D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650" b="0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Do not organise someone’s inbox based only on your own habits. First understand how they want messages handled.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B3165-B2D2-4389-AA88-B770F2F0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8DDB9-8B3E-4508-B4C2-39E3EF39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Ask before you change anything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2A801-6C6B-48CD-9643-E8D4B5F1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1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0DA4F-78A0-45B8-8938-67D97837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0"/>
            <a:ext cx="910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Which senders or topics are urgent?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62A24-0A74-4841-AF8D-FE157C56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1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81B7D-9EB5-4910-AD92-F2FEEA2B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910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Which messages need a draft, a reply or just filing?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4E808-12AB-46EC-B655-449468C8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1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0CBF4-EAD8-4F7C-9E18-A01A10D5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910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Who can you respond to on the client’s behalf?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F1F35-4489-4375-B920-101106E2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1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EF4E5-70E9-4AC6-83EA-17CBB324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67300"/>
            <a:ext cx="910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What tone, sign-off and response time do they expect?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A3D4E-167F-43BA-9A8B-FB1794EA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ASSISTARA ACADEMY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7E537-71BB-49F9-8F77-30185063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CLIENT INBOX WORKFLOW  /  04</a:t>
            </a:r>
          </a:p>
        </p:txBody>
      </p:sp>
    </p:spTree>
    <p:extLst>
      <p:ext uri="{BB962C8B-B14F-4D97-AF65-F5344CB8AC3E}">
        <p14:creationId xmlns:p14="http://schemas.microsoft.com/office/powerpoint/2010/main" val="697647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49F8C-5AAE-4644-8FA3-0143BD30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STEP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67EDA-E461-4B93-A335-563C207D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Use four clear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59F98-7381-4393-BAC5-4D7298B1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650" b="0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Every message should leave the inbox with a visible next move.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7EA66-BA10-4F74-8A45-2D1B8517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5336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D5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E8D49-BE14-47A0-9609-A53A295D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Reply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EBFD3-F38F-4450-9A64-26CE24E7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2076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Time-sensitive customer issue or meeting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6C343-FF8F-4587-90FA-AAE3F5C9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25336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9DD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289E0-8824-4ADA-97E5-3818B15E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003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Draft for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44852-D822-4283-A7FB-DD28F0D7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76625"/>
            <a:ext cx="2076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Message needs the client’s voice or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8FA34-0796-497F-BBC2-1D03B14E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25336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FF5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66090-AF88-4DCC-A213-DAA08F47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Turn into a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35B24-44B7-404E-882E-75DE58C7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6625"/>
            <a:ext cx="2076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Work needs research, files or follow-up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10966-7095-42C2-ADC9-C5B8CD0F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76500"/>
            <a:ext cx="25336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56595-F698-4211-87E9-DDF20D6B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03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File / archive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99734-B746-43A4-B2F5-D0675E89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76625"/>
            <a:ext cx="2076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Reference, receipt or resolved thread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A5408-24A6-444B-B985-79B2494B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ASSISTARA ACADEMY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73533-EF25-4938-9521-8413B3C4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CLIENT INBOX WORKFLOW  /  05</a:t>
            </a:r>
          </a:p>
        </p:txBody>
      </p:sp>
    </p:spTree>
    <p:extLst>
      <p:ext uri="{BB962C8B-B14F-4D97-AF65-F5344CB8AC3E}">
        <p14:creationId xmlns:p14="http://schemas.microsoft.com/office/powerpoint/2010/main" val="2386773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99860-206E-4B09-B006-A26029CF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STEP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05E00-A20E-4314-ADA5-9A527062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A simple workflow for every new message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9FEC5-CFF4-463F-A7CB-D4F28297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8C35C-9AB5-4587-9D3E-094301AA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04A10-95F3-4108-A2B3-872D29AD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193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Read the full thread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7BE6A-2A87-4AFB-BFE0-06649F94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0030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Do not answer from the subject 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6D4A-7433-4F5B-ACB6-899F7809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521E5-B0F7-47C0-9762-815E09FF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94E9D-313D-4145-9DA6-9142CC22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Check urgency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3BDD7-8459-46F1-83B9-5C1F3CA2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9090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Deadline, customer impact, calendar conflict or client preference.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9348D-164C-4690-A822-4B9A2F68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9F1E1-DE1C-42DF-9CC1-002B8ABB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4515A-794C-4719-B594-19A5B123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Choose the 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BDB00-5E88-4ACF-82D4-0CB005A5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8150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You, the client, another teammate or a future task.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5C07B-E763-40ED-AA72-21072956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D51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D2217-B9EE-44E1-9021-3F798D1E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D9D1B-120A-40A6-B01F-20BD30B1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911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Make the next action visible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30D539-34CE-4432-9633-F1BCA844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7210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Reply, draft, task, calendar item or file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58242A-C28D-48A9-BFD8-554C4052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ASSISTARA ACADEMY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5AB3FF-42D6-409D-AAB4-D5E5DB8D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CLIENT INBOX WORKFLOW  /  06</a:t>
            </a:r>
          </a:p>
        </p:txBody>
      </p:sp>
    </p:spTree>
    <p:extLst>
      <p:ext uri="{BB962C8B-B14F-4D97-AF65-F5344CB8AC3E}">
        <p14:creationId xmlns:p14="http://schemas.microsoft.com/office/powerpoint/2010/main" val="1383380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6B945-F3B7-43AB-978B-3F3350D4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B6BB6-F09A-4C4D-B79D-8D2386EF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One inbox, three different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81CB8-5BC3-4338-90EC-85CCC737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77560-C988-4267-B839-CD1A4979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Customer: ‘My order has not arrived’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4AE5C-6337-47E1-B65B-9ECEE74F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43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Reply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51A69-D149-44C9-8E9C-2EE94F05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145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Acknowledge, check the order status, give the next update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350C7-D88C-4FB1-BBA7-B376317B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7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9DD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6324E-D2D5-454F-BFCF-C221173F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Partner asks to confirm next week’s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DEDE3-F774-4CB5-BA97-147564AF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86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Draft for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0BCFD-65AB-41E3-BC01-A0D449B5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575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Confirm available times based on the calendar and client preference.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3D8A2-7137-403D-985D-8F84CAAC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FF5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AE5C0-3AA4-4189-AB91-ADAAB04D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Newsletter with useful industry update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BF5CD-13BD-44CF-8DB5-C196D9D8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29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File / archive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7DD50-CC4A-4CC5-B601-37F876FF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005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Save only if it supports an active client goal.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7E997-AF8C-4287-8A68-AD8A3030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ASSISTARA ACADEMY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8A81C-EB5A-40A4-80EE-718D844B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CLIENT INBOX WORKFLOW  /  07</a:t>
            </a:r>
          </a:p>
        </p:txBody>
      </p:sp>
    </p:spTree>
    <p:extLst>
      <p:ext uri="{BB962C8B-B14F-4D97-AF65-F5344CB8AC3E}">
        <p14:creationId xmlns:p14="http://schemas.microsoft.com/office/powerpoint/2010/main" val="6642839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82123-8ECD-4721-BDAF-529BD89A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PROFESSIONAL REPLIES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E2A9C-14A7-4DA4-B8A2-39E6D7CD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Clear, calm and useful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22DEE-AC02-4926-BE70-6C73ED8C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482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E0C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043E5-426F-44CC-9BEE-35B97C21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Weak reply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C5EC2-1768-4C77-9EBC-BC3AE0B0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“Hi. I will check.”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BAE04-D82B-433C-99CB-7ABACC1F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It leaves the customer unsure about what happens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01C3A-F475-4308-8CC9-A6CB4F4C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2959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ECFC0-D375-40E6-A64E-B80CFFA1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86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D51F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FFD51F"/>
                </a:solidFill>
                <a:latin typeface="Manrope"/>
                <a:ea typeface="Manrope"/>
                <a:cs typeface="Manrope"/>
              </a:rPr>
              <a:t>Useful reply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8DFB5-0D3E-4593-9CEB-37A5B19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95600"/>
            <a:ext cx="428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“Hi Ana, thanks for letting us know. I’m checking the delivery status now and will update you by 3 PM today.”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DE691-881B-4E5D-83CA-05454ADD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33850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D7D0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D9D7D0"/>
                </a:solidFill>
                <a:latin typeface="Manrope"/>
                <a:ea typeface="Manrope"/>
                <a:cs typeface="Manrope"/>
              </a:rPr>
              <a:t>Name the action and the next update when you can.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DAEDE-4F88-4310-A4AC-F96790B8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ASSISTARA ACADEMY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3A6AF-52A4-4D57-8DF0-D010A57A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CLIENT INBOX WORKFLOW  /  08</a:t>
            </a:r>
          </a:p>
        </p:txBody>
      </p:sp>
    </p:spTree>
    <p:extLst>
      <p:ext uri="{BB962C8B-B14F-4D97-AF65-F5344CB8AC3E}">
        <p14:creationId xmlns:p14="http://schemas.microsoft.com/office/powerpoint/2010/main" val="45492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02435-AD03-4335-91E4-DE1F64E4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COMMON MISTAKES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032F1-5BA8-4B0C-8475-0567FE73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What to avoid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F0699-893A-4B4F-9888-B8F4B6D3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5FA5D-D481-4537-8E0F-54E08981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5F92E-5A93-4B3A-928A-B8385989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Changing labels, rules or permissions before you know the client’s preferences.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4DE70-3FD2-4B26-98BA-0CEE1B5D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1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3843A-8DC5-4EA9-9D32-03B248BB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14650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Replying to a sensitive or high-stakes message without the client’s approval.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10B90-D800-4F7A-9650-1C2B583E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1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EE61D-2F26-4090-AD39-86258BF3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24250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Leaving a thread with no owner, no deadline and no next 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11976-96D7-45FF-B6D3-507FB677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1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356ED-CED8-445B-9E52-421D71C9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Treating speed as more important than accuracy, tone or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03451-0F09-4135-8924-072660EE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ASSISTARA ACADEMY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7A154-5D92-4F0E-AD83-02644EC7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CLIENT INBOX WORKFLOW  /  09</a:t>
            </a:r>
          </a:p>
        </p:txBody>
      </p:sp>
    </p:spTree>
    <p:extLst>
      <p:ext uri="{BB962C8B-B14F-4D97-AF65-F5344CB8AC3E}">
        <p14:creationId xmlns:p14="http://schemas.microsoft.com/office/powerpoint/2010/main" val="9248153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078D5-9602-4671-A341-EEE76E9A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YOUR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B776D-4B4C-404B-A220-9477706B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Client inbox 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631EB-E41B-4BAE-BAB8-209C1365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1650" b="0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You will review six messages for a small online store and decide what happens next.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FF2B5-B9EB-4688-AE86-79E54E3D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2E946-A1B0-486C-801C-9C0DF6AC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51F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FFD51F"/>
                </a:solidFill>
                <a:latin typeface="Manrope"/>
                <a:ea typeface="Manrope"/>
                <a:cs typeface="Manrope"/>
              </a:rPr>
              <a:t>For every message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EEFAA-9A59-4E06-891E-CC176053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1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50EF3-153E-4A2F-9B2C-61162A90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0"/>
            <a:ext cx="853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Choose: reply now, draft for review, task or file.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375D0-F769-4E0F-908E-AF1D94DD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1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37F95-D06B-4F0E-BAA0-A2E7C913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853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Write the next action in one sentence.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013B9-0B05-4637-AD6D-9F52ECAC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1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C75B1-ABF8-496D-A959-C448FB98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853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Draft one reply that protects trust and gives a clear next update.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10F05-2584-465E-A135-35723B43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Then complete the knowledge check to finish the lesson.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CCA6D-6C20-48FF-8DC1-59462480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ASSISTARA ACADEMY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2F3FD-E5AB-44B9-BE35-D4BF0864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6B63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716B63"/>
                </a:solidFill>
                <a:latin typeface="Manrope"/>
                <a:ea typeface="Manrope"/>
                <a:cs typeface="Manrope"/>
              </a:rPr>
              <a:t>CLIENT INBOX WORKFLOW  /  10</a:t>
            </a:r>
          </a:p>
        </p:txBody>
      </p:sp>
    </p:spTree>
    <p:extLst>
      <p:ext uri="{BB962C8B-B14F-4D97-AF65-F5344CB8AC3E}">
        <p14:creationId xmlns:p14="http://schemas.microsoft.com/office/powerpoint/2010/main" val="2087525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59A9B-901B-4B47-9D40-3F3BEFEF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032A8-0557-4510-93D5-89513F01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D51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D51F"/>
                </a:solidFill>
                <a:latin typeface="Manrope"/>
                <a:ea typeface="Manrope"/>
                <a:cs typeface="Manrope"/>
              </a:rPr>
              <a:t>BEFORE YOU LEAVE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AAD34-B8F9-4720-A52F-CDC0569C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Your inbox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0B806-69F2-48D6-8E8E-07A9BCD3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D5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00B7D-F895-428A-830E-EFE27C43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12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19E63-1CD5-48A0-936E-CDC4C04C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66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Learn the rules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16B20-1721-4118-B0AC-5E32DBAA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812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D7D0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D9D7D0"/>
                </a:solidFill>
                <a:latin typeface="Manrope"/>
                <a:ea typeface="Manrope"/>
                <a:cs typeface="Manrope"/>
              </a:rPr>
              <a:t>Client preferences come first.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84495-E4F7-4CB1-A78F-D4AF0E70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D51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61D97-1E5E-42B6-A48E-042AA091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12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F17CE-3B5D-47AF-BEB6-A1989570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33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Make decisions visible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5E40F-198C-45F2-9484-EC242336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480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D7D0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D9D7D0"/>
                </a:solidFill>
                <a:latin typeface="Manrope"/>
                <a:ea typeface="Manrope"/>
                <a:cs typeface="Manrope"/>
              </a:rPr>
              <a:t>Every message needs an owner and next 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9C17A-9408-4F1F-AAB8-E5055F08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D51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0AC78-AA1F-4EBA-BCBC-C504F75C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1717"/>
                </a:solidFill>
                <a:latin typeface="Manrope"/>
                <a:ea typeface="Manrope"/>
                <a:cs typeface="Manrope"/>
              </a:defRPr>
            </a:pPr>
            <a:r>
              <a:rPr sz="1125" b="1">
                <a:solidFill>
                  <a:srgbClr val="171717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97C74-860A-4679-8A4E-3DE01B82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00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Communicate with care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B30F6E-1117-4A1A-895D-1AA9D401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148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D7D0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D9D7D0"/>
                </a:solidFill>
                <a:latin typeface="Manrope"/>
                <a:ea typeface="Manrope"/>
                <a:cs typeface="Manrope"/>
              </a:rPr>
              <a:t>Use clear, accurate replies and flag risks early.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71F117-D16E-45F2-AC6A-BFBF517D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D51F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FFD51F"/>
                </a:solidFill>
                <a:latin typeface="Manrope"/>
                <a:ea typeface="Manrope"/>
                <a:cs typeface="Manrope"/>
              </a:rPr>
              <a:t>Next: complete the inbox simulation and knowledge check.</a:t>
            </a:r>
          </a:p>
        </p:txBody>
      </p:sp>
    </p:spTree>
    <p:extLst>
      <p:ext uri="{BB962C8B-B14F-4D97-AF65-F5344CB8AC3E}">
        <p14:creationId xmlns:p14="http://schemas.microsoft.com/office/powerpoint/2010/main" val="19723877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2026-09-22T04:36:48.4160000Z</dcterms:created>
  <dcterms:modified xsi:type="dcterms:W3CDTF">2026-09-22T04:36:48.4160000Z</dcterms:modified>
</coreProperties>
</file>