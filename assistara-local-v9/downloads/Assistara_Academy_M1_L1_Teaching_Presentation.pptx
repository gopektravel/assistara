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16B63"/>
                </a:solidFill>
                <a:latin typeface="Manrope"/>
              </a:rPr>
              <a:t>MODULE 1 · LESSON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6858000" cy="1920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5600" b="1">
                <a:solidFill>
                  <a:srgbClr val="171717"/>
                </a:solidFill>
                <a:latin typeface="Manrope"/>
              </a:rPr>
              <a:t>Own the
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5303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0">
                <a:solidFill>
                  <a:srgbClr val="716B63"/>
                </a:solidFill>
                <a:latin typeface="Manrope"/>
              </a:rPr>
              <a:t>From Employee to Freelancer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234440"/>
            <a:ext cx="3474720" cy="425196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1717"/>
                </a:solidFill>
                <a:latin typeface="Manrope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2240280"/>
            <a:ext cx="914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1717"/>
                </a:solidFill>
                <a:latin typeface="Manrop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788920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71717"/>
                </a:solidFill>
                <a:latin typeface="Manrope"/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840480"/>
            <a:ext cx="260604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nrope"/>
              </a:rPr>
              <a:t>Think beyond the task.
Don't automatically work beyond the task.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B8B8B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B8B8B"/>
                </a:solidFill>
                <a:latin typeface="Manrop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987552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anrope"/>
              </a:rPr>
              <a:t>“My job is to follow
the instructions.”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9875520" cy="960120"/>
          </a:xfrm>
          <a:prstGeom prst="roundRect">
            <a:avLst/>
          </a:prstGeom>
          <a:solidFill>
            <a:srgbClr val="25252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1596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A9A9A9"/>
                </a:solidFill>
                <a:latin typeface="Manrope"/>
              </a:rPr>
              <a:t>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224528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D51F"/>
                </a:solidFill>
                <a:latin typeface="Manrope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31596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nrope"/>
              </a:rPr>
              <a:t>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There’s another question to 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10881360" cy="214884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761488"/>
            <a:ext cx="996696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171717"/>
                </a:solidFill>
                <a:latin typeface="Manrope"/>
              </a:rPr>
              <a:t>What is the client actually
trying to achieve?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892040"/>
            <a:ext cx="9875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0">
                <a:solidFill>
                  <a:srgbClr val="716B63"/>
                </a:solidFill>
                <a:latin typeface="Manrope"/>
              </a:rPr>
              <a:t>The instruction tells you what to do. The outcome tells you why it matters.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The task isn’t always the goal.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43891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16B63"/>
                </a:solidFill>
                <a:latin typeface="Manrope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356616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171717"/>
                </a:solidFill>
                <a:latin typeface="Manrope"/>
              </a:rPr>
              <a:t>Find 5
coworking spaces.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944368"/>
            <a:ext cx="9144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D51F"/>
                </a:solidFill>
                <a:latin typeface="Manrop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57400"/>
            <a:ext cx="5074920" cy="251460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59152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65500"/>
                </a:solidFill>
                <a:latin typeface="Manrope"/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816352"/>
            <a:ext cx="42976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1717"/>
                </a:solidFill>
                <a:latin typeface="Manrope"/>
              </a:rPr>
              <a:t>Help me find somewhere
suitable to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>
                <a:solidFill>
                  <a:srgbClr val="171717"/>
                </a:solidFill>
                <a:latin typeface="Manrope"/>
              </a:rPr>
              <a:t>TASK ≠ OUTCOME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0749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716B63"/>
                </a:solidFill>
                <a:latin typeface="Manrope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41148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1717"/>
                </a:solidFill>
                <a:latin typeface="Manrope"/>
              </a:rPr>
              <a:t>What you were
asked to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240280"/>
            <a:ext cx="5074920" cy="2560320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74698C"/>
                </a:solidFill>
                <a:latin typeface="Manrope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1148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1717"/>
                </a:solidFill>
                <a:latin typeface="Manrope"/>
              </a:rPr>
              <a:t>The useful result
the client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“Done” doesn’t always mean useful.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383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78608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1717"/>
                </a:solidFill>
                <a:latin typeface="Manrope"/>
              </a:rPr>
              <a:t>5 places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251460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E8B57"/>
                </a:solidFill>
                <a:latin typeface="Manrope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148840"/>
            <a:ext cx="3383280" cy="2423160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57860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1717"/>
                </a:solidFill>
                <a:latin typeface="Manrope"/>
              </a:rPr>
              <a:t>3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251460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8B3A3A"/>
                </a:solidFill>
                <a:latin typeface="Manrope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148840"/>
            <a:ext cx="3383280" cy="242316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578608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1717"/>
                </a:solidFill>
                <a:latin typeface="Manrope"/>
              </a:rPr>
              <a:t>1 too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6496" y="2514600"/>
            <a:ext cx="365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8B3A3A"/>
                </a:solidFill>
                <a:latin typeface="Manrope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5604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716B63"/>
                </a:solidFill>
                <a:latin typeface="Manrope"/>
              </a:rPr>
              <a:t>Technically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95604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nrope"/>
              </a:rPr>
              <a:t>Actually useful?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Ownership means thinking about usefulness.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429000" cy="224028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7004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nrope"/>
              </a:rPr>
              <a:t>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834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71717"/>
                </a:solidFill>
                <a:latin typeface="Manrope"/>
              </a:rPr>
              <a:t>What could affect the result?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429000" cy="2240280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67004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nrope"/>
              </a:rPr>
              <a:t>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246120"/>
            <a:ext cx="2834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71717"/>
                </a:solidFill>
                <a:latin typeface="Manrope"/>
              </a:rPr>
              <a:t>What matters here?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331720"/>
            <a:ext cx="3429000" cy="224028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67004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71717"/>
                </a:solidFill>
                <a:latin typeface="Manrope"/>
              </a:rPr>
              <a:t>RESPOND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46120"/>
            <a:ext cx="28346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71717"/>
                </a:solidFill>
                <a:latin typeface="Manrope"/>
              </a:rPr>
              <a:t>What is appropriate?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B8B8B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B8B8B"/>
                </a:solidFill>
                <a:latin typeface="Manrope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nrope"/>
              </a:rPr>
              <a:t>Ownership does NOT mean “do more.”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074920" cy="1143000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41448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71717"/>
                </a:solidFill>
                <a:latin typeface="Manrope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68880"/>
            <a:ext cx="3840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1717"/>
                </a:solidFill>
                <a:latin typeface="Manrope"/>
              </a:rPr>
              <a:t>Extra unpaid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074920" cy="1143000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441448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71717"/>
                </a:solidFill>
                <a:latin typeface="Manrope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468880"/>
            <a:ext cx="3840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1717"/>
                </a:solidFill>
                <a:latin typeface="Manrope"/>
              </a:rPr>
              <a:t>50 when 5 were requested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074920" cy="114300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950208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71717"/>
                </a:solidFill>
                <a:latin typeface="Manrope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977639"/>
            <a:ext cx="3840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1717"/>
                </a:solidFill>
                <a:latin typeface="Manrope"/>
              </a:rPr>
              <a:t>Changing approved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074920" cy="1143000"/>
          </a:xfrm>
          <a:prstGeom prst="roundRect">
            <a:avLst/>
          </a:prstGeom>
          <a:solidFill>
            <a:srgbClr val="DCF3E4"/>
          </a:solidFill>
          <a:ln w="12700">
            <a:solidFill>
              <a:srgbClr val="D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950208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71717"/>
                </a:solidFill>
                <a:latin typeface="Manrope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977639"/>
            <a:ext cx="3840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1717"/>
                </a:solidFill>
                <a:latin typeface="Manrope"/>
              </a:rPr>
              <a:t>Guessing important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Manrope"/>
              </a:rPr>
              <a:t>Reduce unnecessary management—not necessary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50749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7860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16B63"/>
                </a:solidFill>
                <a:latin typeface="Manrope"/>
              </a:rPr>
              <a:t>HANDLE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63240"/>
            <a:ext cx="40233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71717"/>
                </a:solidFill>
                <a:latin typeface="Manrope"/>
              </a:rPr>
              <a:t>Reasonable,
low-risk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240280"/>
            <a:ext cx="5074920" cy="242316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578608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65500"/>
                </a:solidFill>
                <a:latin typeface="Manrope"/>
              </a:rPr>
              <a:t>CLARIFY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3063240"/>
            <a:ext cx="40233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1717"/>
                </a:solidFill>
                <a:latin typeface="Manrope"/>
              </a:rPr>
              <a:t>When missing info
could change the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716B63"/>
                </a:solidFill>
                <a:latin typeface="Manrope"/>
              </a:rPr>
              <a:t>Independent ≠ silent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71717"/>
                </a:solidFill>
                <a:latin typeface="Manrope"/>
              </a:rPr>
              <a:t>Noticing a problem ≠ authority to change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107442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16B63"/>
                </a:solidFill>
                <a:latin typeface="Manrope"/>
              </a:rPr>
              <a:t>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1717"/>
                </a:solidFill>
                <a:latin typeface="Manrope"/>
              </a:rPr>
              <a:t>Package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907792"/>
            <a:ext cx="1828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1717"/>
                </a:solidFill>
                <a:latin typeface="Manrope"/>
              </a:rPr>
              <a:t>₱15,000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99923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716B63"/>
                </a:solidFill>
                <a:latin typeface="Manrope"/>
              </a:rP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907792"/>
            <a:ext cx="18288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1717"/>
                </a:solidFill>
                <a:latin typeface="Manrope"/>
              </a:rPr>
              <a:t>₱18,000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633472"/>
            <a:ext cx="2423160" cy="68580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283464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1717"/>
                </a:solidFill>
                <a:latin typeface="Manrope"/>
              </a:rPr>
              <a:t>NOTICE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566160"/>
            <a:ext cx="2423160" cy="685800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767328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1717"/>
                </a:solidFill>
                <a:latin typeface="Manrope"/>
              </a:rPr>
              <a:t>DON'T GUESS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8862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716B63"/>
                </a:solidFill>
                <a:latin typeface="Manrope"/>
              </a:rPr>
              <a:t>YOUR RESPONSIBILITY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2245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1717"/>
                </a:solidFill>
                <a:latin typeface="Manrope"/>
              </a:rPr>
              <a:t>Notice the mismatch.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8620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716B63"/>
                </a:solidFill>
                <a:latin typeface="Manrope"/>
              </a:rPr>
              <a:t>YOUR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2245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71717"/>
                </a:solidFill>
                <a:latin typeface="Manrope"/>
              </a:rPr>
              <a:t>Don't choose the price.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Your authority depends on the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743200"/>
            <a:ext cx="36576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71717"/>
                </a:solidFill>
                <a:latin typeface="Manrope"/>
              </a:rPr>
              <a:t>Can I decide this?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920240" cy="105156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84832"/>
            <a:ext cx="15910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1717"/>
                </a:solidFill>
                <a:latin typeface="Manrope"/>
              </a:rPr>
              <a:t>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828800"/>
            <a:ext cx="1920240" cy="1051560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62872" y="2084832"/>
            <a:ext cx="15910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1717"/>
                </a:solidFill>
                <a:latin typeface="Manrope"/>
              </a:rPr>
              <a:t>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2468880" cy="1051560"/>
          </a:xfrm>
          <a:prstGeom prst="roundRect">
            <a:avLst/>
          </a:prstGeom>
          <a:solidFill>
            <a:srgbClr val="DCF3E4"/>
          </a:solidFill>
          <a:ln w="12700">
            <a:solidFill>
              <a:srgbClr val="D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42232"/>
            <a:ext cx="213969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1717"/>
                </a:solidFill>
                <a:latin typeface="Manrope"/>
              </a:rPr>
              <a:t>PREVIOUS
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3886200"/>
            <a:ext cx="2468880" cy="1051560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4142232"/>
            <a:ext cx="213969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1717"/>
                </a:solidFill>
                <a:latin typeface="Manrope"/>
              </a:rPr>
              <a:t>CONSEQUENCE
OF BEING WRONG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977639"/>
            <a:ext cx="3840480" cy="749808"/>
          </a:xfrm>
          <a:prstGeom prst="roundRect">
            <a:avLst/>
          </a:prstGeom>
          <a:solidFill>
            <a:srgbClr val="FFD51F"/>
          </a:solidFill>
          <a:ln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215384"/>
            <a:ext cx="32918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171717"/>
                </a:solidFill>
                <a:latin typeface="Manrope"/>
              </a:rPr>
              <a:t>Context sets the boundary.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71717"/>
                </a:solidFill>
                <a:latin typeface="Manrope"/>
              </a:rPr>
              <a:t>Avoid both extremes.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017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716B63"/>
                </a:solidFill>
                <a:latin typeface="Manrope"/>
              </a:rPr>
              <a:t>“I only do exactly
what I’m told.”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5176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716B63"/>
                </a:solidFill>
                <a:latin typeface="Manrope"/>
              </a:rP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57400"/>
            <a:ext cx="3063240" cy="192024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542032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71717"/>
                </a:solidFill>
                <a:latin typeface="Manrope"/>
              </a:rPr>
              <a:t>PROFESSIONAL
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65176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716B63"/>
                </a:solidFill>
                <a:latin typeface="Manrop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377440"/>
            <a:ext cx="29718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716B63"/>
                </a:solidFill>
                <a:latin typeface="Manrope"/>
              </a:rPr>
              <a:t>“I’ll decide
everything myself.”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315968"/>
            <a:ext cx="3337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1717"/>
                </a:solidFill>
                <a:latin typeface="Manrope"/>
              </a:rPr>
              <a:t>Own the outcome.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681728"/>
            <a:ext cx="3337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71717"/>
                </a:solidFill>
                <a:latin typeface="Manrope"/>
              </a:rPr>
              <a:t>Respect the boundary.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5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171717"/>
                </a:solidFill>
                <a:latin typeface="Manrope"/>
              </a:rPr>
              <a:t>Think beyond the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424160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171717"/>
                </a:solidFill>
                <a:latin typeface="Manrope"/>
              </a:rPr>
              <a:t>Don’t automatically
work beyond the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4892040"/>
            <a:ext cx="6035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665500"/>
                </a:solidFill>
                <a:latin typeface="Manrope"/>
              </a:rPr>
              <a:t>OWN THE OUTCOME · RESPECT THE BOUNDARY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71717"/>
                </a:solidFill>
                <a:latin typeface="Manrope"/>
              </a:rPr>
              <a:t>Four questions before you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2514600" cy="155448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907792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71717"/>
                </a:solidFill>
                <a:latin typeface="Manrope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907792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716B63"/>
                </a:solidFill>
                <a:latin typeface="Manrop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423160"/>
            <a:ext cx="2514600" cy="155448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907792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71717"/>
                </a:solidFill>
                <a:latin typeface="Manrope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907792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716B63"/>
                </a:solidFill>
                <a:latin typeface="Manrop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2423160"/>
            <a:ext cx="2514600" cy="1554480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907792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71717"/>
                </a:solidFill>
                <a:latin typeface="Manrope"/>
              </a:rPr>
              <a:t>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907792"/>
            <a:ext cx="274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716B63"/>
                </a:solidFill>
                <a:latin typeface="Manrop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2423160"/>
            <a:ext cx="2514600" cy="1554480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907792"/>
            <a:ext cx="2185416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71717"/>
                </a:solidFill>
                <a:latin typeface="Manrope"/>
              </a:rPr>
              <a:t>DON’T ASSUME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What am I actually deciding?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57800" cy="1572768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21408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nrope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7"/>
            <a:ext cx="47091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1717"/>
                </a:solidFill>
                <a:latin typeface="Manrope"/>
              </a:rPr>
              <a:t>What did the client actually ask me to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257800" cy="1572768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121408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nrope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532887"/>
            <a:ext cx="47091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1717"/>
                </a:solidFill>
                <a:latin typeface="Manrope"/>
              </a:rPr>
              <a:t>What useful result are they probably trying to get?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40479"/>
            <a:ext cx="5257800" cy="1572768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087367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nrope"/>
              </a:rPr>
              <a:t>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498847"/>
            <a:ext cx="47091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1717"/>
                </a:solidFill>
                <a:latin typeface="Manrope"/>
              </a:rPr>
              <a:t>What should I reasonably notice, think about or take care of?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79"/>
            <a:ext cx="5257800" cy="1572768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087367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71717"/>
                </a:solidFill>
                <a:latin typeface="Manrope"/>
              </a:rPr>
              <a:t>DON’T ASSUME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498847"/>
            <a:ext cx="47091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1717"/>
                </a:solidFill>
                <a:latin typeface="Manrope"/>
              </a:rPr>
              <a:t>What important decision or missing information would be risky to decide myself?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Approved doesn’t mean “improve it.”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154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331720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16B63"/>
                </a:solidFill>
                <a:latin typeface="Manrope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34640"/>
            <a:ext cx="25146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Manrope"/>
              </a:rPr>
              <a:t>“Upload these 3
approved posts.”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154680" cy="2880360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4698C"/>
                </a:solidFill>
                <a:latin typeface="Manrope"/>
              </a:rPr>
              <a:t>PERSONAL PREFERENCE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834640"/>
            <a:ext cx="24231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Manrope"/>
              </a:rPr>
              <a:t>“This caption
is boring.”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416052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71717"/>
                </a:solidFill>
                <a:latin typeface="Manrope"/>
              </a:rPr>
              <a:t>LEAVE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011680"/>
            <a:ext cx="3520440" cy="288036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3172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65500"/>
                </a:solidFill>
                <a:latin typeface="Manrope"/>
              </a:rPr>
              <a:t>REAL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834640"/>
            <a:ext cx="2423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71717"/>
                </a:solidFill>
                <a:latin typeface="Manrope"/>
              </a:rPr>
              <a:t>Broken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416052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71717"/>
                </a:solidFill>
                <a:latin typeface="Manrope"/>
              </a:rPr>
              <a:t>FLAG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171717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F8A82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F8A82"/>
                </a:solidFill>
                <a:latin typeface="Manrope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07899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71717"/>
                </a:solidFill>
                <a:latin typeface="Manrope"/>
              </a:rPr>
              <a:t>Fix what’s safe. Flag what isn’t.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6984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16B63"/>
                </a:solidFill>
                <a:latin typeface="Manrope"/>
              </a:rPr>
              <a:t>PROPOSAL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788920"/>
            <a:ext cx="4251960" cy="1417320"/>
          </a:xfrm>
          <a:prstGeom prst="roundRect">
            <a:avLst/>
          </a:prstGeom>
          <a:solidFill>
            <a:srgbClr val="DCF3E4"/>
          </a:solidFill>
          <a:ln w="12700">
            <a:solidFill>
              <a:srgbClr val="DC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072384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71717"/>
                </a:solidFill>
                <a:latin typeface="Manrope"/>
              </a:rPr>
              <a:t>Obvious typo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6616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1717"/>
                </a:solidFill>
                <a:latin typeface="Manrope"/>
              </a:rPr>
              <a:t>→ correct where appropriate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788920"/>
            <a:ext cx="4800600" cy="1417320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3072384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71717"/>
                </a:solidFill>
                <a:latin typeface="Manrope"/>
              </a:rPr>
              <a:t>Conflicting prices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3566160"/>
            <a:ext cx="3931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71717"/>
                </a:solidFill>
                <a:latin typeface="Manrope"/>
              </a:rPr>
              <a:t>→ confirm rather than guess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ista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6112" y="42976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anrope"/>
              </a:rPr>
              <a:t>ASSISTARA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55664"/>
            <a:ext cx="21945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8B8B8B"/>
                </a:solidFill>
                <a:latin typeface="Manrope"/>
              </a:rPr>
              <a:t>MODULE 1  / 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00" b="1">
                <a:solidFill>
                  <a:srgbClr val="8B8B8B"/>
                </a:solidFill>
                <a:latin typeface="Manrope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Manrope"/>
              </a:rPr>
              <a:t>Now you decide.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2514600" cy="1417320"/>
          </a:xfrm>
          <a:prstGeom prst="roundRect">
            <a:avLst/>
          </a:prstGeom>
          <a:solidFill>
            <a:srgbClr val="DCECFF"/>
          </a:solidFill>
          <a:ln w="12700">
            <a:solidFill>
              <a:srgbClr val="DC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0632"/>
            <a:ext cx="2148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71717"/>
                </a:solidFill>
                <a:latin typeface="Manrope"/>
              </a:rPr>
              <a:t>What’s the task?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423160"/>
            <a:ext cx="2514600" cy="1417320"/>
          </a:xfrm>
          <a:prstGeom prst="roundRect">
            <a:avLst/>
          </a:prstGeom>
          <a:solidFill>
            <a:srgbClr val="FFD51F"/>
          </a:solidFill>
          <a:ln w="12700">
            <a:solidFill>
              <a:srgbClr val="FFD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70632"/>
            <a:ext cx="2148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71717"/>
                </a:solidFill>
                <a:latin typeface="Manrope"/>
              </a:rPr>
              <a:t>What’s the outcome?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423160"/>
            <a:ext cx="2514600" cy="1417320"/>
          </a:xfrm>
          <a:prstGeom prst="roundRect">
            <a:avLst/>
          </a:prstGeom>
          <a:solidFill>
            <a:srgbClr val="E9DDFF"/>
          </a:solidFill>
          <a:ln w="12700">
            <a:solidFill>
              <a:srgbClr val="E9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70632"/>
            <a:ext cx="2148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71717"/>
                </a:solidFill>
                <a:latin typeface="Manrope"/>
              </a:rPr>
              <a:t>What do you own?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423160"/>
            <a:ext cx="2514600" cy="1417320"/>
          </a:xfrm>
          <a:prstGeom prst="roundRect">
            <a:avLst/>
          </a:prstGeom>
          <a:solidFill>
            <a:srgbClr val="FED8C2"/>
          </a:solidFill>
          <a:ln w="12700">
            <a:solidFill>
              <a:srgbClr val="FED8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2770632"/>
            <a:ext cx="2148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71717"/>
                </a:solidFill>
                <a:latin typeface="Manrope"/>
              </a:rPr>
              <a:t>What shouldn’t you assume?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800600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AFAFAF"/>
                </a:solidFill>
                <a:latin typeface="Manrope"/>
              </a:rPr>
              <a:t>Continue in the Academy practice.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230368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AFAFAF"/>
                </a:solidFill>
                <a:latin typeface="Manrope"/>
              </a:rPr>
              <a:t>Use the same four questions on the next client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